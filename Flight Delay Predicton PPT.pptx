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9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6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58D4D-021F-D0CF-FAA0-2E6F2F0C7A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27FA92-B895-AC2E-EE07-EB5291A89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05127-6D2A-4817-F06F-38CE69FC7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114E7-EDAA-F5D6-966F-11CBB95AC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37C8E-4792-F289-4D6E-2D2B202A2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362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11DD8-82CE-0321-8D78-40B332D9C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A9261-129E-4517-6DFC-A477BFF82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012F5-99A8-9EA9-A6AD-9D8ADD665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636A4-E6D0-4B0A-08C8-DBF0A7E0A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EA3E8-4F33-A000-FAFB-6BCDC6AE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22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60646-E2E7-53DF-D128-CB4DCE135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CAEBE-6CD0-445A-9AFB-E55069EFC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3A3E5-AFCE-E80E-5BB8-815EE601D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B669D-B828-9CC7-94B6-7AA84972E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69CF4-16F2-CF40-F4E3-0BB48BEBC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493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666B9-E5C9-7AE4-7C88-7C2F54BA9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B5157-3796-5CF6-B72D-0AD68B3077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D72144-FA3D-BE6B-7C3E-46B024342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4962D-03D6-6C60-4E6C-1EEF1A872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E13396-5CEE-9873-BADE-2727E1050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5E641C-A443-D3AA-0904-9E55346BC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92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5D73F-4C4F-C408-D1B8-5B1C14F58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D61FBF-7BD6-13A5-0279-32979E19C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15C42-8AB4-CE57-2190-083300440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F0C97-6A07-C117-8D06-792C327871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0D113B-163E-9F33-35E0-F5DAF088E8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B11C1B-E164-74A2-D47A-21A856630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F0C9EC-91BE-6614-FA75-737A75D99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BC79F3-47D6-6116-7A08-27FE62322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840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D218B-7494-69EE-EC1B-D16E8642F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58CD9A-3CC2-6558-2432-B6B5135D3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D3F673-9748-EC07-FC37-B3D3ABC3D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E64F97-1E6C-76BB-81EC-BA11A3485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992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EF7111-6AF5-9596-5F8E-FF4648428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F4C03D-C212-0F5A-14F1-216E55A49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11089-2BD5-7447-C828-E75740C14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229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62859-02C4-3799-DD52-F73F4CA2D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E3C0A-6B3C-E95D-9C28-29BBCD6E3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6E894F-5C48-168B-D7FC-7AF20F86A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5EF78D-7AE8-69F4-0FB0-F951F3066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897167-8B5E-DBBB-642E-BCCC4C74F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842F-9205-5D15-67F8-B29F9729D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388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64B1B-B40B-C156-222F-AAEFCAA86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E2D22A-B531-754D-17A1-CD9019EB96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90205-9CD1-CD4A-B2D0-3EA2263C0A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B8F590-51E0-38BE-A6DA-780B6272D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50507-2325-F3C1-4ADE-F03B800ED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044E9E-C299-0230-7802-6E67C4BA5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997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4C2AA-7871-5818-4303-4DCAB94CA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39067-A822-4DC5-2FF9-61ECB0127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7C569-C480-1EAE-AE02-0D061C67B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B2C7D-4A38-D8AE-7B37-7E9BA7C13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30F4D-54F5-129F-B026-CE0DBA5A7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407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185CBC-EE3F-E2DC-4A5B-38838DF5D4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65C413-48A3-F242-3E55-54153F6C3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DA6DF-A700-D693-4968-0FBA0ECBB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8598B-7789-7E57-D5A6-2CE922F72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DC218-1D11-9BE6-5817-011DA6E32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45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044116-35A9-86E4-8D35-ED8549217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D053D9-D5EE-9BC3-C57B-7F86571B0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B8CE8-8A3E-6F4F-059E-D6A1E555B6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DB407-E7C9-6E94-430A-A94F13BEDE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F32C3-E99E-FC65-35CD-838682FD1A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186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xgboost.readthedocs.io/" TargetMode="External"/><Relationship Id="rId2" Type="http://schemas.openxmlformats.org/officeDocument/2006/relationships/hyperlink" Target="https://scikit-learn.org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flask.palletsproject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96065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9250" y="103844"/>
            <a:ext cx="5141151" cy="20005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Baskerville Old Face" panose="02020602080505020303" pitchFamily="18" charset="0"/>
              </a:rPr>
              <a:t>Flight Delay 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Baskerville Old Face" panose="02020602080505020303" pitchFamily="18" charset="0"/>
            </a:endParaRPr>
          </a:p>
          <a:p>
            <a:pPr>
              <a:defRPr sz="54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Baskerville Old Face" panose="02020602080505020303" pitchFamily="18" charset="0"/>
              </a:rPr>
              <a:t>Prediction System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Baskerville Old Face" panose="02020602080505020303" pitchFamily="18" charset="0"/>
            </a:endParaRPr>
          </a:p>
          <a:p>
            <a:pPr>
              <a:defRPr sz="5400" b="1">
                <a:solidFill>
                  <a:srgbClr val="FFFFFF"/>
                </a:solidFill>
                <a:latin typeface="Calibri"/>
              </a:defRPr>
            </a:pP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Baskerville Old Face" panose="02020602080505020303" pitchFamily="18" charset="0"/>
              </a:rPr>
              <a:t>Using Machine-Learning</a:t>
            </a:r>
            <a:endParaRPr sz="1600" dirty="0">
              <a:solidFill>
                <a:schemeClr val="tx1">
                  <a:lumMod val="95000"/>
                  <a:lumOff val="5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F722B1-3331-0DF0-82D3-6D3062039FBF}"/>
              </a:ext>
            </a:extLst>
          </p:cNvPr>
          <p:cNvSpPr txBox="1"/>
          <p:nvPr/>
        </p:nvSpPr>
        <p:spPr>
          <a:xfrm>
            <a:off x="6199238" y="5260258"/>
            <a:ext cx="32544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BY:-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ANISHA KUMARI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(00404092025)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SAKSHI MATHUR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(05304092025)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0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0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30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30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0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3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05939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746" y="1432560"/>
            <a:ext cx="7955279" cy="4319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800"/>
              </a:spcBef>
              <a:defRPr sz="2000" b="1">
                <a:solidFill>
                  <a:srgbClr val="1F4E78"/>
                </a:solidFill>
                <a:latin typeface="Calibri"/>
              </a:defRPr>
            </a:pPr>
            <a:r>
              <a:rPr dirty="0"/>
              <a:t> The Challenge:</a:t>
            </a:r>
          </a:p>
          <a:p>
            <a:pPr marL="742950" lvl="1" indent="-285750">
              <a:spcBef>
                <a:spcPts val="800"/>
              </a:spcBef>
              <a:buFont typeface="Wingdings" panose="05000000000000000000" pitchFamily="2" charset="2"/>
              <a:buChar char="§"/>
              <a:defRPr sz="1800">
                <a:solidFill>
                  <a:srgbClr val="595959"/>
                </a:solidFill>
                <a:latin typeface="Calibri"/>
              </a:defRPr>
            </a:pPr>
            <a:r>
              <a:rPr dirty="0"/>
              <a:t>20% of flights delayed → $33B annual cost</a:t>
            </a:r>
          </a:p>
          <a:p>
            <a:pPr marL="742950" lvl="1" indent="-285750">
              <a:spcBef>
                <a:spcPts val="800"/>
              </a:spcBef>
              <a:buFont typeface="Wingdings" panose="05000000000000000000" pitchFamily="2" charset="2"/>
              <a:buChar char="§"/>
              <a:defRPr sz="1800">
                <a:solidFill>
                  <a:srgbClr val="595959"/>
                </a:solidFill>
                <a:latin typeface="Calibri"/>
              </a:defRPr>
            </a:pPr>
            <a:r>
              <a:rPr dirty="0"/>
              <a:t>Millions of passengers affected</a:t>
            </a:r>
          </a:p>
          <a:p>
            <a:pPr marL="742950" lvl="1" indent="-285750">
              <a:spcBef>
                <a:spcPts val="800"/>
              </a:spcBef>
              <a:buFont typeface="Wingdings" panose="05000000000000000000" pitchFamily="2" charset="2"/>
              <a:buChar char="§"/>
              <a:defRPr sz="1800">
                <a:solidFill>
                  <a:srgbClr val="595959"/>
                </a:solidFill>
                <a:latin typeface="Calibri"/>
              </a:defRPr>
            </a:pPr>
            <a:r>
              <a:rPr dirty="0"/>
              <a:t>Reactive approach - delays known too late</a:t>
            </a:r>
          </a:p>
          <a:p>
            <a:pPr marL="342900" indent="-342900">
              <a:spcBef>
                <a:spcPts val="800"/>
              </a:spcBef>
              <a:buFont typeface="Wingdings" panose="05000000000000000000" pitchFamily="2" charset="2"/>
              <a:buChar char="§"/>
              <a:defRPr sz="2000" b="1">
                <a:solidFill>
                  <a:srgbClr val="1F4E78"/>
                </a:solidFill>
                <a:latin typeface="Calibri"/>
              </a:defRPr>
            </a:pPr>
            <a:endParaRPr dirty="0"/>
          </a:p>
          <a:p>
            <a:pPr>
              <a:spcBef>
                <a:spcPts val="800"/>
              </a:spcBef>
              <a:defRPr sz="2000" b="1">
                <a:solidFill>
                  <a:srgbClr val="1F4E78"/>
                </a:solidFill>
                <a:latin typeface="Calibri"/>
              </a:defRPr>
            </a:pPr>
            <a:r>
              <a:rPr dirty="0"/>
              <a:t> Our Solution:</a:t>
            </a:r>
          </a:p>
          <a:p>
            <a:pPr marL="742950" lvl="1" indent="-285750">
              <a:spcBef>
                <a:spcPts val="800"/>
              </a:spcBef>
              <a:buFont typeface="Wingdings" panose="05000000000000000000" pitchFamily="2" charset="2"/>
              <a:buChar char="§"/>
              <a:defRPr sz="1800">
                <a:solidFill>
                  <a:srgbClr val="595959"/>
                </a:solidFill>
                <a:latin typeface="Calibri"/>
              </a:defRPr>
            </a:pPr>
            <a:r>
              <a:rPr dirty="0"/>
              <a:t>ML-based prediction of 60+ minute delays</a:t>
            </a:r>
          </a:p>
          <a:p>
            <a:pPr marL="742950" lvl="1" indent="-285750">
              <a:spcBef>
                <a:spcPts val="800"/>
              </a:spcBef>
              <a:buFont typeface="Wingdings" panose="05000000000000000000" pitchFamily="2" charset="2"/>
              <a:buChar char="§"/>
              <a:defRPr sz="1800">
                <a:solidFill>
                  <a:srgbClr val="595959"/>
                </a:solidFill>
                <a:latin typeface="Calibri"/>
              </a:defRPr>
            </a:pPr>
            <a:r>
              <a:rPr dirty="0"/>
              <a:t>Advance warnings for better planning</a:t>
            </a:r>
          </a:p>
          <a:p>
            <a:pPr>
              <a:spcBef>
                <a:spcPts val="800"/>
              </a:spcBef>
              <a:defRPr sz="2000" b="1">
                <a:solidFill>
                  <a:srgbClr val="1F4E78"/>
                </a:solidFill>
                <a:latin typeface="Calibri"/>
              </a:defRPr>
            </a:pPr>
            <a:endParaRPr dirty="0"/>
          </a:p>
          <a:p>
            <a:pPr>
              <a:spcBef>
                <a:spcPts val="800"/>
              </a:spcBef>
              <a:defRPr sz="2000" b="1">
                <a:solidFill>
                  <a:srgbClr val="1F4E78"/>
                </a:solidFill>
                <a:latin typeface="Calibri"/>
              </a:defRPr>
            </a:pPr>
            <a:r>
              <a:rPr dirty="0"/>
              <a:t>Goal:  &lt;2s predictions, User-friendly API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E5FBED-3415-F0E4-AD0C-0BEFBF3C8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097280"/>
            <a:ext cx="3352799" cy="5760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0244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9237" y="1354885"/>
            <a:ext cx="3997796" cy="5088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800"/>
              </a:spcBef>
              <a:defRPr sz="2000" b="1">
                <a:solidFill>
                  <a:srgbClr val="1F4E78"/>
                </a:solidFill>
                <a:latin typeface="Calibri"/>
              </a:defRPr>
            </a:pPr>
            <a:r>
              <a:rPr dirty="0"/>
              <a:t> Dataset:</a:t>
            </a:r>
          </a:p>
          <a:p>
            <a:pPr marL="742950" lvl="1" indent="-285750">
              <a:spcBef>
                <a:spcPts val="800"/>
              </a:spcBef>
              <a:buFont typeface="Wingdings" panose="05000000000000000000" pitchFamily="2" charset="2"/>
              <a:buChar char="§"/>
              <a:defRPr sz="1800">
                <a:solidFill>
                  <a:srgbClr val="595959"/>
                </a:solidFill>
                <a:latin typeface="Calibri"/>
              </a:defRPr>
            </a:pPr>
            <a:r>
              <a:rPr dirty="0"/>
              <a:t>580,000+ flights | 150+ features</a:t>
            </a:r>
          </a:p>
          <a:p>
            <a:pPr marL="742950" lvl="1" indent="-285750">
              <a:spcBef>
                <a:spcPts val="800"/>
              </a:spcBef>
              <a:buFont typeface="Wingdings" panose="05000000000000000000" pitchFamily="2" charset="2"/>
              <a:buChar char="§"/>
              <a:defRPr sz="1800">
                <a:solidFill>
                  <a:srgbClr val="595959"/>
                </a:solidFill>
                <a:latin typeface="Calibri"/>
              </a:defRPr>
            </a:pPr>
            <a:r>
              <a:rPr dirty="0"/>
              <a:t>70/30 train-test split</a:t>
            </a:r>
          </a:p>
          <a:p>
            <a:pPr marL="742950" lvl="1" indent="-285750">
              <a:spcBef>
                <a:spcPts val="800"/>
              </a:spcBef>
              <a:buFont typeface="Wingdings" panose="05000000000000000000" pitchFamily="2" charset="2"/>
              <a:buChar char="§"/>
              <a:defRPr sz="1800">
                <a:solidFill>
                  <a:srgbClr val="595959"/>
                </a:solidFill>
                <a:latin typeface="Calibri"/>
              </a:defRPr>
            </a:pPr>
            <a:r>
              <a:rPr dirty="0"/>
              <a:t>Severe imbalance: 92.5% on-time, 7.5% delayed (12:1)</a:t>
            </a:r>
          </a:p>
          <a:p>
            <a:pPr marL="342900" indent="-342900">
              <a:spcBef>
                <a:spcPts val="800"/>
              </a:spcBef>
              <a:buFont typeface="Wingdings" panose="05000000000000000000" pitchFamily="2" charset="2"/>
              <a:buChar char="§"/>
              <a:defRPr sz="2000" b="1">
                <a:solidFill>
                  <a:srgbClr val="1F4E78"/>
                </a:solidFill>
                <a:latin typeface="Calibri"/>
              </a:defRPr>
            </a:pPr>
            <a:endParaRPr dirty="0"/>
          </a:p>
          <a:p>
            <a:pPr>
              <a:spcBef>
                <a:spcPts val="800"/>
              </a:spcBef>
              <a:defRPr sz="2000" b="1">
                <a:solidFill>
                  <a:srgbClr val="1F4E78"/>
                </a:solidFill>
                <a:latin typeface="Calibri"/>
              </a:defRPr>
            </a:pPr>
            <a:r>
              <a:rPr dirty="0"/>
              <a:t> ML Pipeline:</a:t>
            </a:r>
          </a:p>
          <a:p>
            <a:pPr lvl="1">
              <a:spcBef>
                <a:spcPts val="800"/>
              </a:spcBef>
              <a:defRPr sz="1800">
                <a:solidFill>
                  <a:srgbClr val="595959"/>
                </a:solidFill>
                <a:latin typeface="Calibri"/>
              </a:defRPr>
            </a:pPr>
            <a:r>
              <a:rPr dirty="0"/>
              <a:t>1. Data preprocessing &amp; feature engineering</a:t>
            </a:r>
          </a:p>
          <a:p>
            <a:pPr lvl="1">
              <a:spcBef>
                <a:spcPts val="800"/>
              </a:spcBef>
              <a:defRPr sz="1800">
                <a:solidFill>
                  <a:srgbClr val="595959"/>
                </a:solidFill>
                <a:latin typeface="Calibri"/>
              </a:defRPr>
            </a:pPr>
            <a:r>
              <a:rPr dirty="0"/>
              <a:t>2. Handle imbalance (</a:t>
            </a:r>
            <a:r>
              <a:rPr dirty="0" err="1"/>
              <a:t>scale_pos_weight</a:t>
            </a:r>
            <a:r>
              <a:rPr dirty="0"/>
              <a:t> = 12.3)</a:t>
            </a:r>
          </a:p>
          <a:p>
            <a:pPr lvl="1">
              <a:spcBef>
                <a:spcPts val="800"/>
              </a:spcBef>
              <a:defRPr sz="1800">
                <a:solidFill>
                  <a:srgbClr val="595959"/>
                </a:solidFill>
                <a:latin typeface="Calibri"/>
              </a:defRPr>
            </a:pPr>
            <a:r>
              <a:rPr dirty="0"/>
              <a:t>3. Train </a:t>
            </a:r>
            <a:r>
              <a:rPr dirty="0" err="1"/>
              <a:t>XGBoost</a:t>
            </a:r>
            <a:r>
              <a:rPr dirty="0"/>
              <a:t> model</a:t>
            </a:r>
          </a:p>
          <a:p>
            <a:pPr lvl="1">
              <a:spcBef>
                <a:spcPts val="800"/>
              </a:spcBef>
              <a:defRPr sz="1800">
                <a:solidFill>
                  <a:srgbClr val="595959"/>
                </a:solidFill>
                <a:latin typeface="Calibri"/>
              </a:defRPr>
            </a:pPr>
            <a:r>
              <a:rPr dirty="0"/>
              <a:t>4. Deploy as REST API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2E48A7-1BBA-9333-9C77-20CEBD117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7033" y="1097280"/>
            <a:ext cx="4866967" cy="57607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97471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Class Imbalance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617228" cy="5252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800"/>
              </a:spcBef>
              <a:defRPr sz="2000" b="1">
                <a:solidFill>
                  <a:srgbClr val="1F4E78"/>
                </a:solidFill>
                <a:latin typeface="Calibri"/>
              </a:defRPr>
            </a:pPr>
            <a:r>
              <a:rPr dirty="0"/>
              <a:t>The Critical Problem:</a:t>
            </a:r>
          </a:p>
          <a:p>
            <a:pPr marL="742950" lvl="1" indent="-285750">
              <a:spcBef>
                <a:spcPts val="800"/>
              </a:spcBef>
              <a:buFont typeface="Wingdings" panose="05000000000000000000" pitchFamily="2" charset="2"/>
              <a:buChar char="§"/>
              <a:defRPr sz="1800">
                <a:solidFill>
                  <a:srgbClr val="595959"/>
                </a:solidFill>
                <a:latin typeface="Calibri"/>
              </a:defRPr>
            </a:pPr>
            <a:r>
              <a:rPr dirty="0"/>
              <a:t>On-time: 92.5% | Delayed: 7.5% (12:1 ratio)</a:t>
            </a:r>
          </a:p>
          <a:p>
            <a:pPr marL="742950" lvl="1" indent="-285750">
              <a:spcBef>
                <a:spcPts val="800"/>
              </a:spcBef>
              <a:buFont typeface="Wingdings" panose="05000000000000000000" pitchFamily="2" charset="2"/>
              <a:buChar char="§"/>
              <a:defRPr sz="1800">
                <a:solidFill>
                  <a:srgbClr val="595959"/>
                </a:solidFill>
                <a:latin typeface="Calibri"/>
              </a:defRPr>
            </a:pPr>
            <a:r>
              <a:rPr dirty="0"/>
              <a:t>Model predicts everything as on-time!</a:t>
            </a:r>
          </a:p>
          <a:p>
            <a:pPr marL="342900" indent="-342900">
              <a:spcBef>
                <a:spcPts val="800"/>
              </a:spcBef>
              <a:buFont typeface="Wingdings" panose="05000000000000000000" pitchFamily="2" charset="2"/>
              <a:buChar char="§"/>
              <a:defRPr sz="2000" b="1">
                <a:solidFill>
                  <a:srgbClr val="1F4E78"/>
                </a:solidFill>
                <a:latin typeface="Calibri"/>
              </a:defRPr>
            </a:pPr>
            <a:endParaRPr dirty="0"/>
          </a:p>
          <a:p>
            <a:pPr>
              <a:spcBef>
                <a:spcPts val="800"/>
              </a:spcBef>
              <a:defRPr sz="2000" b="1">
                <a:solidFill>
                  <a:srgbClr val="1F4E78"/>
                </a:solidFill>
                <a:latin typeface="Calibri"/>
              </a:defRPr>
            </a:pPr>
            <a:r>
              <a:rPr dirty="0"/>
              <a:t>Solution: </a:t>
            </a:r>
            <a:r>
              <a:rPr dirty="0" err="1"/>
              <a:t>XGBoost</a:t>
            </a:r>
            <a:r>
              <a:rPr dirty="0"/>
              <a:t> </a:t>
            </a:r>
            <a:r>
              <a:rPr dirty="0" err="1"/>
              <a:t>scale_pos_weight</a:t>
            </a:r>
            <a:endParaRPr dirty="0"/>
          </a:p>
          <a:p>
            <a:pPr marL="742950" lvl="1" indent="-285750">
              <a:spcBef>
                <a:spcPts val="800"/>
              </a:spcBef>
              <a:buFont typeface="Wingdings" panose="05000000000000000000" pitchFamily="2" charset="2"/>
              <a:buChar char="§"/>
              <a:defRPr sz="1800">
                <a:solidFill>
                  <a:srgbClr val="595959"/>
                </a:solidFill>
                <a:latin typeface="Calibri"/>
              </a:defRPr>
            </a:pPr>
            <a:r>
              <a:rPr dirty="0"/>
              <a:t>Formula: (# on-time) / (# delayed) = 12.3</a:t>
            </a:r>
          </a:p>
          <a:p>
            <a:pPr marL="742950" lvl="1" indent="-285750">
              <a:spcBef>
                <a:spcPts val="800"/>
              </a:spcBef>
              <a:buFont typeface="Wingdings" panose="05000000000000000000" pitchFamily="2" charset="2"/>
              <a:buChar char="§"/>
              <a:defRPr sz="1800">
                <a:solidFill>
                  <a:srgbClr val="595959"/>
                </a:solidFill>
                <a:latin typeface="Calibri"/>
              </a:defRPr>
            </a:pPr>
            <a:r>
              <a:rPr dirty="0"/>
              <a:t>Gives 12.3x weight to delayed samples</a:t>
            </a:r>
          </a:p>
          <a:p>
            <a:pPr marL="342900" indent="-342900">
              <a:spcBef>
                <a:spcPts val="800"/>
              </a:spcBef>
              <a:buFont typeface="Wingdings" panose="05000000000000000000" pitchFamily="2" charset="2"/>
              <a:buChar char="§"/>
              <a:defRPr sz="2000" b="1">
                <a:solidFill>
                  <a:srgbClr val="1F4E78"/>
                </a:solidFill>
                <a:latin typeface="Calibri"/>
              </a:defRPr>
            </a:pPr>
            <a:endParaRPr dirty="0"/>
          </a:p>
          <a:p>
            <a:pPr>
              <a:spcBef>
                <a:spcPts val="800"/>
              </a:spcBef>
              <a:defRPr sz="2000" b="1">
                <a:solidFill>
                  <a:srgbClr val="1F4E78"/>
                </a:solidFill>
                <a:latin typeface="Calibri"/>
              </a:defRPr>
            </a:pPr>
            <a:r>
              <a:rPr dirty="0"/>
              <a:t>Impact:</a:t>
            </a:r>
          </a:p>
          <a:p>
            <a:pPr marL="742950" lvl="1" indent="-285750">
              <a:spcBef>
                <a:spcPts val="800"/>
              </a:spcBef>
              <a:buFont typeface="Wingdings" panose="05000000000000000000" pitchFamily="2" charset="2"/>
              <a:buChar char="ü"/>
              <a:defRPr sz="1800">
                <a:solidFill>
                  <a:srgbClr val="595959"/>
                </a:solidFill>
                <a:latin typeface="Calibri"/>
              </a:defRPr>
            </a:pPr>
            <a:r>
              <a:rPr dirty="0"/>
              <a:t> Without: 1.02% recall (useless)</a:t>
            </a:r>
          </a:p>
          <a:p>
            <a:pPr marL="742950" lvl="1" indent="-285750">
              <a:spcBef>
                <a:spcPts val="800"/>
              </a:spcBef>
              <a:buFont typeface="Wingdings" panose="05000000000000000000" pitchFamily="2" charset="2"/>
              <a:buChar char="ü"/>
              <a:defRPr sz="1800">
                <a:solidFill>
                  <a:srgbClr val="595959"/>
                </a:solidFill>
                <a:latin typeface="Calibri"/>
              </a:defRPr>
            </a:pPr>
            <a:r>
              <a:rPr dirty="0"/>
              <a:t> With: 62.78% recall (production-ready)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14B33F-3C91-8137-DA40-BC5BA70418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63" r="40662"/>
          <a:stretch>
            <a:fillRect/>
          </a:stretch>
        </p:blipFill>
        <p:spPr>
          <a:xfrm>
            <a:off x="5152103" y="1097280"/>
            <a:ext cx="3991897" cy="5760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90660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- Confusion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2011680"/>
            <a:ext cx="2377440" cy="1645920"/>
          </a:xfrm>
          <a:prstGeom prst="roundRect">
            <a:avLst/>
          </a:prstGeom>
          <a:solidFill>
            <a:srgbClr val="70AD47"/>
          </a:solidFill>
          <a:ln w="381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True Negative</a:t>
            </a:r>
          </a:p>
          <a:p>
            <a:r>
              <a:t>90,469</a:t>
            </a:r>
          </a:p>
          <a:p>
            <a:r>
              <a:t>On-time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2011680"/>
            <a:ext cx="2377440" cy="1645920"/>
          </a:xfrm>
          <a:prstGeom prst="roundRect">
            <a:avLst/>
          </a:prstGeom>
          <a:solidFill>
            <a:srgbClr val="FFC000"/>
          </a:solidFill>
          <a:ln w="381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False Positive</a:t>
            </a:r>
          </a:p>
          <a:p>
            <a:r>
              <a:t>43,914</a:t>
            </a:r>
          </a:p>
          <a:p>
            <a:r>
              <a:t>False Alarm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4114800"/>
            <a:ext cx="2377440" cy="1645920"/>
          </a:xfrm>
          <a:prstGeom prst="roundRect">
            <a:avLst/>
          </a:prstGeom>
          <a:solidFill>
            <a:srgbClr val="C00000"/>
          </a:solidFill>
          <a:ln w="381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False Negative</a:t>
            </a:r>
          </a:p>
          <a:p>
            <a:r>
              <a:t>4,088</a:t>
            </a:r>
          </a:p>
          <a:p>
            <a:r>
              <a:t>Missed Delay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4114800"/>
            <a:ext cx="2377440" cy="1645920"/>
          </a:xfrm>
          <a:prstGeom prst="roundRect">
            <a:avLst/>
          </a:prstGeom>
          <a:solidFill>
            <a:srgbClr val="70AD47"/>
          </a:solidFill>
          <a:ln w="381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True Positive</a:t>
            </a:r>
          </a:p>
          <a:p>
            <a:r>
              <a:t>6,895</a:t>
            </a:r>
          </a:p>
          <a:p>
            <a:r>
              <a:t>Delay Caught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5544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4472C4"/>
                </a:solidFill>
              </a:defRPr>
            </a:pPr>
            <a:r>
              <a:t>Predicted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1097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472C4"/>
                </a:solidFill>
              </a:defRPr>
            </a:pPr>
            <a:r>
              <a:t>Actual 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5943600"/>
            <a:ext cx="5852160" cy="6400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✓ Recall: 62.78%  |  Precision: 13.57%  |  Accuracy: 66.96%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361990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897" y="1280160"/>
            <a:ext cx="4665405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800"/>
              </a:spcBef>
              <a:defRPr sz="2000" b="1">
                <a:solidFill>
                  <a:srgbClr val="1F4E78"/>
                </a:solidFill>
                <a:latin typeface="Calibri"/>
              </a:defRPr>
            </a:pPr>
            <a:r>
              <a:rPr dirty="0"/>
              <a:t>Key Advantages:</a:t>
            </a:r>
          </a:p>
          <a:p>
            <a:r>
              <a:rPr lang="en-US" b="1" dirty="0"/>
              <a:t>1. </a:t>
            </a:r>
            <a:r>
              <a:rPr lang="en-US" b="1" dirty="0" err="1"/>
              <a:t>XGBoost</a:t>
            </a:r>
            <a:r>
              <a:rPr lang="en-US" b="1" dirty="0"/>
              <a:t> gives very high accuracy</a:t>
            </a:r>
          </a:p>
          <a:p>
            <a:r>
              <a:rPr lang="en-US" dirty="0"/>
              <a:t>It learns patterns better than many other algorithms.</a:t>
            </a:r>
          </a:p>
          <a:p>
            <a:r>
              <a:rPr lang="en-US" b="1" dirty="0"/>
              <a:t>2. It works BEST when data is imbalanced</a:t>
            </a:r>
          </a:p>
          <a:p>
            <a:r>
              <a:rPr lang="en-US" dirty="0"/>
              <a:t>In dataset, delayed flights are very few.</a:t>
            </a:r>
            <a:br>
              <a:rPr lang="en-US" dirty="0"/>
            </a:br>
            <a:r>
              <a:rPr lang="en-US" dirty="0" err="1"/>
              <a:t>XGBoost</a:t>
            </a:r>
            <a:r>
              <a:rPr lang="en-US" dirty="0"/>
              <a:t> handles this extremely well.</a:t>
            </a:r>
          </a:p>
          <a:p>
            <a:r>
              <a:rPr lang="en-US" b="1" dirty="0"/>
              <a:t>3. It is very fast</a:t>
            </a:r>
          </a:p>
          <a:p>
            <a:r>
              <a:rPr lang="en-US" dirty="0"/>
              <a:t>Training is fast. Prediction is super fast.</a:t>
            </a:r>
            <a:br>
              <a:rPr lang="en-US" dirty="0"/>
            </a:br>
            <a:r>
              <a:rPr lang="en-US" dirty="0"/>
              <a:t>Perfect for real-time systems.</a:t>
            </a:r>
          </a:p>
          <a:p>
            <a:r>
              <a:rPr lang="en-US" b="1" dirty="0"/>
              <a:t>4. It avoids overfitting</a:t>
            </a:r>
          </a:p>
          <a:p>
            <a:r>
              <a:rPr lang="en-US" dirty="0"/>
              <a:t>Overfitting means model memorizes instead of learning. </a:t>
            </a:r>
            <a:r>
              <a:rPr lang="en-US" dirty="0" err="1"/>
              <a:t>XGBoost</a:t>
            </a:r>
            <a:r>
              <a:rPr lang="en-US" dirty="0"/>
              <a:t> has built-in controls to prevent this.</a:t>
            </a:r>
          </a:p>
          <a:p>
            <a:r>
              <a:rPr lang="en-US" b="1" dirty="0"/>
              <a:t>5. It supports </a:t>
            </a:r>
            <a:r>
              <a:rPr lang="en-US" b="1" dirty="0" err="1"/>
              <a:t>scale_pos_weight</a:t>
            </a:r>
            <a:endParaRPr lang="en-US" b="1" dirty="0"/>
          </a:p>
          <a:p>
            <a:r>
              <a:rPr lang="en-US" dirty="0"/>
              <a:t>This was important to handle imbalance 12:1. Other models don’t support this properly.</a:t>
            </a:r>
          </a:p>
          <a:p>
            <a:endParaRPr lang="en-US" dirty="0"/>
          </a:p>
          <a:p>
            <a:pPr lvl="1">
              <a:spcBef>
                <a:spcPts val="800"/>
              </a:spcBef>
              <a:defRPr sz="1800">
                <a:solidFill>
                  <a:srgbClr val="595959"/>
                </a:solidFill>
                <a:latin typeface="Calibri"/>
              </a:defRPr>
            </a:pPr>
            <a:endParaRPr dirty="0"/>
          </a:p>
          <a:p>
            <a:pPr>
              <a:spcBef>
                <a:spcPts val="800"/>
              </a:spcBef>
              <a:defRPr sz="2000" b="1">
                <a:solidFill>
                  <a:srgbClr val="1F4E78"/>
                </a:solidFill>
                <a:latin typeface="Calibri"/>
              </a:defRPr>
            </a:pP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CDD920-FA3E-B79C-4A2E-0AB792EBB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302" y="1097280"/>
            <a:ext cx="4296697" cy="5760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462780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737360"/>
            <a:ext cx="4572000" cy="1280160"/>
          </a:xfrm>
          <a:prstGeom prst="roundRect">
            <a:avLst/>
          </a:prstGeom>
          <a:solidFill>
            <a:srgbClr val="4472C4"/>
          </a:solidFill>
          <a:ln w="381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 Frontend</a:t>
            </a:r>
          </a:p>
          <a:p>
            <a:r>
              <a:rPr dirty="0"/>
              <a:t>Web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3291840"/>
            <a:ext cx="4572000" cy="1280160"/>
          </a:xfrm>
          <a:prstGeom prst="roundRect">
            <a:avLst/>
          </a:prstGeom>
          <a:solidFill>
            <a:srgbClr val="70AD47"/>
          </a:solidFill>
          <a:ln w="381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 Backend</a:t>
            </a:r>
          </a:p>
          <a:p>
            <a:r>
              <a:rPr dirty="0"/>
              <a:t>Flask REST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846320"/>
            <a:ext cx="4572000" cy="1280160"/>
          </a:xfrm>
          <a:prstGeom prst="roundRect">
            <a:avLst/>
          </a:prstGeom>
          <a:solidFill>
            <a:srgbClr val="ED7D31"/>
          </a:solidFill>
          <a:ln w="381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ML Model</a:t>
            </a:r>
          </a:p>
          <a:p>
            <a:r>
              <a:rPr dirty="0" err="1"/>
              <a:t>XGBoost</a:t>
            </a:r>
            <a:endParaRPr dirty="0"/>
          </a:p>
        </p:txBody>
      </p:sp>
      <p:sp>
        <p:nvSpPr>
          <p:cNvPr id="8" name="Down Arrow 7"/>
          <p:cNvSpPr/>
          <p:nvPr/>
        </p:nvSpPr>
        <p:spPr>
          <a:xfrm>
            <a:off x="4114800" y="3108960"/>
            <a:ext cx="914400" cy="457200"/>
          </a:xfrm>
          <a:prstGeom prst="downArrow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own Arrow 8"/>
          <p:cNvSpPr/>
          <p:nvPr/>
        </p:nvSpPr>
        <p:spPr>
          <a:xfrm>
            <a:off x="4114800" y="4663440"/>
            <a:ext cx="914400" cy="457200"/>
          </a:xfrm>
          <a:prstGeom prst="downArrow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04845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7955279" cy="4637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800"/>
              </a:spcBef>
              <a:defRPr sz="2000" b="1">
                <a:solidFill>
                  <a:srgbClr val="1F4E78"/>
                </a:solidFill>
                <a:latin typeface="Calibri"/>
              </a:defRPr>
            </a:pPr>
            <a:r>
              <a:rPr dirty="0"/>
              <a:t> Key Results:</a:t>
            </a:r>
          </a:p>
          <a:p>
            <a:pPr lvl="1">
              <a:spcBef>
                <a:spcPts val="800"/>
              </a:spcBef>
              <a:defRPr sz="1800">
                <a:solidFill>
                  <a:srgbClr val="595959"/>
                </a:solidFill>
                <a:latin typeface="Calibri"/>
              </a:defRPr>
            </a:pPr>
            <a:r>
              <a:rPr dirty="0"/>
              <a:t>✓ Recall: 62.78% (catches 63% of delays)</a:t>
            </a:r>
          </a:p>
          <a:p>
            <a:pPr lvl="1">
              <a:spcBef>
                <a:spcPts val="800"/>
              </a:spcBef>
              <a:defRPr sz="1800">
                <a:solidFill>
                  <a:srgbClr val="595959"/>
                </a:solidFill>
                <a:latin typeface="Calibri"/>
              </a:defRPr>
            </a:pPr>
            <a:r>
              <a:rPr dirty="0"/>
              <a:t>✓ Accuracy: 66.96% overall</a:t>
            </a:r>
          </a:p>
          <a:p>
            <a:pPr lvl="1">
              <a:spcBef>
                <a:spcPts val="800"/>
              </a:spcBef>
              <a:defRPr sz="1800">
                <a:solidFill>
                  <a:srgbClr val="595959"/>
                </a:solidFill>
                <a:latin typeface="Calibri"/>
              </a:defRPr>
            </a:pPr>
            <a:r>
              <a:rPr dirty="0"/>
              <a:t>✓ Response time: &lt;200ms</a:t>
            </a:r>
          </a:p>
          <a:p>
            <a:pPr lvl="1">
              <a:spcBef>
                <a:spcPts val="800"/>
              </a:spcBef>
              <a:defRPr sz="1800">
                <a:solidFill>
                  <a:srgbClr val="595959"/>
                </a:solidFill>
                <a:latin typeface="Calibri"/>
              </a:defRPr>
            </a:pPr>
            <a:r>
              <a:rPr dirty="0"/>
              <a:t>✓ Production-ready deployment</a:t>
            </a:r>
          </a:p>
          <a:p>
            <a:pPr>
              <a:spcBef>
                <a:spcPts val="800"/>
              </a:spcBef>
              <a:defRPr sz="2000" b="1">
                <a:solidFill>
                  <a:srgbClr val="1F4E78"/>
                </a:solidFill>
                <a:latin typeface="Calibri"/>
              </a:defRPr>
            </a:pPr>
            <a:endParaRPr dirty="0"/>
          </a:p>
          <a:p>
            <a:pPr>
              <a:spcBef>
                <a:spcPts val="800"/>
              </a:spcBef>
              <a:defRPr sz="2000" b="1">
                <a:solidFill>
                  <a:srgbClr val="1F4E78"/>
                </a:solidFill>
                <a:latin typeface="Calibri"/>
              </a:defRPr>
            </a:pPr>
            <a:r>
              <a:rPr dirty="0"/>
              <a:t> Business Impact:</a:t>
            </a:r>
          </a:p>
          <a:p>
            <a:pPr lvl="1">
              <a:spcBef>
                <a:spcPts val="800"/>
              </a:spcBef>
              <a:defRPr sz="1800">
                <a:solidFill>
                  <a:srgbClr val="595959"/>
                </a:solidFill>
                <a:latin typeface="Calibri"/>
              </a:defRPr>
            </a:pPr>
            <a:r>
              <a:rPr dirty="0"/>
              <a:t>• 15-20% cost reduction in delay management</a:t>
            </a:r>
          </a:p>
          <a:p>
            <a:pPr lvl="1">
              <a:spcBef>
                <a:spcPts val="800"/>
              </a:spcBef>
              <a:defRPr sz="1800">
                <a:solidFill>
                  <a:srgbClr val="595959"/>
                </a:solidFill>
                <a:latin typeface="Calibri"/>
              </a:defRPr>
            </a:pPr>
            <a:r>
              <a:rPr dirty="0"/>
              <a:t>• 25% improvement in customer satisfaction</a:t>
            </a:r>
          </a:p>
          <a:p>
            <a:pPr lvl="1">
              <a:spcBef>
                <a:spcPts val="800"/>
              </a:spcBef>
              <a:defRPr sz="1800">
                <a:solidFill>
                  <a:srgbClr val="595959"/>
                </a:solidFill>
                <a:latin typeface="Calibri"/>
              </a:defRPr>
            </a:pPr>
            <a:r>
              <a:rPr dirty="0"/>
              <a:t>• Better resource allocation for airlines</a:t>
            </a:r>
          </a:p>
          <a:p>
            <a:pPr lvl="1">
              <a:spcBef>
                <a:spcPts val="800"/>
              </a:spcBef>
              <a:defRPr sz="1800">
                <a:solidFill>
                  <a:srgbClr val="595959"/>
                </a:solidFill>
                <a:latin typeface="Calibri"/>
              </a:defRPr>
            </a:pPr>
            <a:r>
              <a:rPr dirty="0"/>
              <a:t>• Proactive passenger communication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B217C9-7AB3-DCAB-9C4F-1D5B5CD3F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742" y="1097280"/>
            <a:ext cx="3736258" cy="5760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59" y="167567"/>
            <a:ext cx="619554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955279" cy="466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800"/>
              </a:spcBef>
              <a:defRPr sz="2000" b="1">
                <a:solidFill>
                  <a:srgbClr val="1F4E78"/>
                </a:solidFill>
                <a:latin typeface="Calibri"/>
              </a:defRPr>
            </a:pPr>
            <a:r>
              <a:rPr dirty="0"/>
              <a:t> Project Success:</a:t>
            </a:r>
          </a:p>
          <a:p>
            <a:pPr marL="742950" lvl="1" indent="-285750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595959"/>
                </a:solidFill>
                <a:latin typeface="Calibri"/>
              </a:defRPr>
            </a:pPr>
            <a:r>
              <a:rPr dirty="0"/>
              <a:t>ML model with 62.78% recall achieved</a:t>
            </a:r>
          </a:p>
          <a:p>
            <a:pPr marL="742950" lvl="1" indent="-285750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595959"/>
                </a:solidFill>
                <a:latin typeface="Calibri"/>
              </a:defRPr>
            </a:pPr>
            <a:r>
              <a:rPr dirty="0"/>
              <a:t>Handled severe class imbalance effectively</a:t>
            </a:r>
          </a:p>
          <a:p>
            <a:pPr marL="742950" lvl="1" indent="-285750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595959"/>
                </a:solidFill>
                <a:latin typeface="Calibri"/>
              </a:defRPr>
            </a:pPr>
            <a:r>
              <a:rPr dirty="0"/>
              <a:t>Production-ready API deployed</a:t>
            </a:r>
          </a:p>
          <a:p>
            <a:pPr marL="342900" indent="-342900">
              <a:spcBef>
                <a:spcPts val="800"/>
              </a:spcBef>
              <a:buFont typeface="Wingdings" panose="05000000000000000000" pitchFamily="2" charset="2"/>
              <a:buChar char="Ø"/>
              <a:defRPr sz="2000" b="1">
                <a:solidFill>
                  <a:srgbClr val="1F4E78"/>
                </a:solidFill>
                <a:latin typeface="Calibri"/>
              </a:defRPr>
            </a:pPr>
            <a:endParaRPr dirty="0"/>
          </a:p>
          <a:p>
            <a:pPr>
              <a:spcBef>
                <a:spcPts val="800"/>
              </a:spcBef>
              <a:defRPr sz="2000" b="1">
                <a:solidFill>
                  <a:srgbClr val="1F4E78"/>
                </a:solidFill>
                <a:latin typeface="Calibri"/>
              </a:defRPr>
            </a:pPr>
            <a:r>
              <a:rPr dirty="0"/>
              <a:t> Future Enhancements:</a:t>
            </a:r>
          </a:p>
          <a:p>
            <a:pPr marL="742950" lvl="1" indent="-285750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595959"/>
                </a:solidFill>
                <a:latin typeface="Calibri"/>
              </a:defRPr>
            </a:pPr>
            <a:r>
              <a:rPr dirty="0"/>
              <a:t> Real-time weather data integration</a:t>
            </a:r>
          </a:p>
          <a:p>
            <a:pPr marL="742950" lvl="1" indent="-285750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595959"/>
                </a:solidFill>
                <a:latin typeface="Calibri"/>
              </a:defRPr>
            </a:pPr>
            <a:r>
              <a:rPr dirty="0"/>
              <a:t> Mobile application (iOS/Android)</a:t>
            </a:r>
          </a:p>
          <a:p>
            <a:pPr marL="742950" lvl="1" indent="-285750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595959"/>
                </a:solidFill>
                <a:latin typeface="Calibri"/>
              </a:defRPr>
            </a:pPr>
            <a:r>
              <a:rPr lang="en-IN" dirty="0"/>
              <a:t> </a:t>
            </a:r>
            <a:r>
              <a:rPr dirty="0"/>
              <a:t>SMS/Email notifications</a:t>
            </a:r>
          </a:p>
          <a:p>
            <a:pPr marL="742950" lvl="1" indent="-285750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595959"/>
                </a:solidFill>
                <a:latin typeface="Calibri"/>
              </a:defRPr>
            </a:pPr>
            <a:r>
              <a:rPr dirty="0"/>
              <a:t> Delay duration prediction</a:t>
            </a:r>
          </a:p>
          <a:p>
            <a:pPr>
              <a:spcBef>
                <a:spcPts val="800"/>
              </a:spcBef>
              <a:defRPr sz="2000" b="1">
                <a:solidFill>
                  <a:srgbClr val="1F4E78"/>
                </a:solidFill>
                <a:latin typeface="Calibri"/>
              </a:defRPr>
            </a:pP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28211A-0E93-0384-7161-35FB83395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019" y="3322466"/>
            <a:ext cx="2493461" cy="29010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4DF966-8965-9367-9051-AB634D2CBD98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4000" dirty="0"/>
              <a:t>       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E18FF5-18A3-8324-2DED-08E6D4288E55}"/>
              </a:ext>
            </a:extLst>
          </p:cNvPr>
          <p:cNvSpPr txBox="1"/>
          <p:nvPr/>
        </p:nvSpPr>
        <p:spPr>
          <a:xfrm>
            <a:off x="314632" y="1386348"/>
            <a:ext cx="847540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 Chen, T., &amp; </a:t>
            </a:r>
            <a:r>
              <a:rPr lang="en-US" dirty="0" err="1"/>
              <a:t>Guestrin</a:t>
            </a:r>
            <a:r>
              <a:rPr lang="en-US" dirty="0"/>
              <a:t>, C. (2016). </a:t>
            </a:r>
            <a:r>
              <a:rPr lang="en-US" dirty="0" err="1"/>
              <a:t>XGBoost</a:t>
            </a:r>
            <a:r>
              <a:rPr lang="en-US" dirty="0"/>
              <a:t>: A Scalable Tree Boosting System. Proceedings of the 22nd ACM SIGKDD International Conference on Knowledge Discovery and Data Mining.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 scikit-learn developers. (2024). scikit-learn: Machine Learning in Python. </a:t>
            </a:r>
            <a:r>
              <a:rPr lang="en-US" dirty="0">
                <a:hlinkClick r:id="rId2"/>
              </a:rPr>
              <a:t>https://scikit-learn.org/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dirty="0" err="1"/>
              <a:t>XGBoost</a:t>
            </a:r>
            <a:r>
              <a:rPr lang="en-US" dirty="0"/>
              <a:t> developers. (2024). </a:t>
            </a:r>
            <a:r>
              <a:rPr lang="en-US" dirty="0" err="1"/>
              <a:t>XGBoost</a:t>
            </a:r>
            <a:r>
              <a:rPr lang="en-US" dirty="0"/>
              <a:t> Documentation. </a:t>
            </a:r>
            <a:r>
              <a:rPr lang="en-US" dirty="0">
                <a:hlinkClick r:id="rId3"/>
              </a:rPr>
              <a:t>https://xgboost.readthedocs.io/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 Flask Pallets Project. (2024). Flask Web Development Framework. </a:t>
            </a:r>
            <a:r>
              <a:rPr lang="en-US" dirty="0">
                <a:hlinkClick r:id="rId4"/>
              </a:rPr>
              <a:t>https://flask.palletsprojects.com/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 He, H., &amp; Garcia, E. A. (2009). Learning from Imbalanced Data. IEEE Transactions on Knowledge and Data Engineering, 21(9), 1263-1284.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 Pedregosa, F., et al. (2011). Scikit-learn: Machine Learning in Python. Journal of Machine Learning Research, 12, 2825-2830.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0428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127</TotalTime>
  <Words>650</Words>
  <Application>Microsoft Office PowerPoint</Application>
  <PresentationFormat>On-screen Show (4:3)</PresentationFormat>
  <Paragraphs>119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Baskerville Old Face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Anisha Kumari</dc:creator>
  <cp:keywords/>
  <dc:description>generated using python-pptx</dc:description>
  <cp:lastModifiedBy>Anisha Kumari</cp:lastModifiedBy>
  <cp:revision>6</cp:revision>
  <dcterms:created xsi:type="dcterms:W3CDTF">2013-01-27T09:14:16Z</dcterms:created>
  <dcterms:modified xsi:type="dcterms:W3CDTF">2025-12-05T12:11:14Z</dcterms:modified>
  <cp:category/>
</cp:coreProperties>
</file>